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9" r:id="rId6"/>
    <p:sldId id="258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QPSK State Discrimination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Minimize error probability in distinguishing coherent states</a:t>
            </a:r>
          </a:p>
          <a:p>
            <a:r>
              <a:t>QPSK constellation: αₖ = √|α|² e^{iθₖ}</a:t>
            </a:r>
          </a:p>
          <a:p>
            <a:r>
              <a:t>Photon detection follows Poisson statistics</a:t>
            </a:r>
          </a:p>
          <a:p>
            <a:r>
              <a:t>Different receivers tested: Bayesian, Cyclic, Bondurant, Heterodyne</a:t>
            </a:r>
          </a:p>
          <a:p>
            <a:r>
              <a:t>Helstrom bound used as quantum performance limit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5719"/>
            <a:ext cx="8229600" cy="724168"/>
          </a:xfrm>
        </p:spPr>
        <p:txBody>
          <a:bodyPr>
            <a:normAutofit fontScale="90000"/>
          </a:bodyPr>
          <a:lstStyle/>
          <a:p>
            <a:r>
              <a:rPr dirty="0"/>
              <a:t>Code Workflow &amp;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918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Loop over |α|² (signal energy)</a:t>
            </a:r>
          </a:p>
          <a:p>
            <a:r>
              <a:rPr dirty="0"/>
              <a:t>Generate QPSK states</a:t>
            </a:r>
          </a:p>
          <a:p>
            <a:r>
              <a:rPr dirty="0"/>
              <a:t>For each trial:</a:t>
            </a:r>
          </a:p>
          <a:p>
            <a:r>
              <a:rPr dirty="0"/>
              <a:t>• Simulate photon detection (Poisson)</a:t>
            </a:r>
          </a:p>
          <a:p>
            <a:r>
              <a:rPr dirty="0"/>
              <a:t>• Apply </a:t>
            </a:r>
            <a:r>
              <a:t>receiver logic</a:t>
            </a:r>
            <a:endParaRPr dirty="0"/>
          </a:p>
          <a:p>
            <a:r>
              <a:rPr dirty="0"/>
              <a:t>Bayesian: update P using likelihood + adapt β</a:t>
            </a:r>
          </a:p>
          <a:p>
            <a:r>
              <a:rPr dirty="0"/>
              <a:t>Cyclic: fixed β sequence, only update P</a:t>
            </a:r>
          </a:p>
          <a:p>
            <a:r>
              <a:rPr dirty="0"/>
              <a:t>Bondurant: sequential photon-triggered switching</a:t>
            </a:r>
          </a:p>
          <a:p>
            <a:r>
              <a:rPr dirty="0"/>
              <a:t>Compute error probability via Monte Carlo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Posterior Evolution via Cyclic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Simulates QPSK coherent state discrimination</a:t>
            </a:r>
          </a:p>
          <a:p>
            <a:r>
              <a:t>Photon arrivals follow Poisson statistics</a:t>
            </a:r>
          </a:p>
          <a:p>
            <a:r>
              <a:t>Likelihood based on displaced photon numbers n_k</a:t>
            </a:r>
          </a:p>
          <a:p>
            <a:r>
              <a:t>Bayesian update applied over time</a:t>
            </a:r>
          </a:p>
          <a:p>
            <a:r>
              <a:t>Tracks posterior probabilities P(α_k | observations)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Workflow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Initialize QPSK constellation and uniform prior</a:t>
            </a:r>
          </a:p>
          <a:p>
            <a:r>
              <a:t>Generate photon arrivals using exponential distribution</a:t>
            </a:r>
          </a:p>
          <a:p>
            <a:r>
              <a:t>Time loop: update posterior for photon/no-photon events</a:t>
            </a:r>
          </a:p>
          <a:p>
            <a:r>
              <a:t>Cyclic probing: rotate hypothesis after detection</a:t>
            </a:r>
          </a:p>
          <a:p>
            <a:r>
              <a:t>Extract posterior at fixed times (0.1 spacing)</a:t>
            </a:r>
          </a:p>
          <a:p>
            <a:r>
              <a:t>Export results as CSV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8738EE-2284-47FF-B2FD-22B21C3F8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Results: Error Probability vs |α|²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2C4A38F-3F19-4736-9523-F0B12AD80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497" y="1350633"/>
            <a:ext cx="4028149" cy="3981021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68CDED-148E-4DF0-9BDC-3D500825F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646" y="1438489"/>
            <a:ext cx="4142857" cy="39810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E2D94C-67D7-43F7-A9AC-69FF074E0BE1}"/>
              </a:ext>
            </a:extLst>
          </p:cNvPr>
          <p:cNvSpPr txBox="1"/>
          <p:nvPr/>
        </p:nvSpPr>
        <p:spPr>
          <a:xfrm>
            <a:off x="1800664" y="5331654"/>
            <a:ext cx="99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Figure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B09228-22AB-4EAA-99B9-D5B383A2DDF4}"/>
              </a:ext>
            </a:extLst>
          </p:cNvPr>
          <p:cNvSpPr txBox="1"/>
          <p:nvPr/>
        </p:nvSpPr>
        <p:spPr>
          <a:xfrm>
            <a:off x="6539132" y="5384206"/>
            <a:ext cx="93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Figure 2</a:t>
            </a:r>
          </a:p>
        </p:txBody>
      </p:sp>
    </p:spTree>
    <p:extLst>
      <p:ext uri="{BB962C8B-B14F-4D97-AF65-F5344CB8AC3E}">
        <p14:creationId xmlns:p14="http://schemas.microsoft.com/office/powerpoint/2010/main" val="395854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Results: Error Probability vs |α|²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 err="1"/>
              <a:t>Helstrom</a:t>
            </a:r>
            <a:r>
              <a:rPr dirty="0"/>
              <a:t> </a:t>
            </a:r>
            <a:r>
              <a:rPr lang="en-IN" dirty="0"/>
              <a:t>Bound is the</a:t>
            </a:r>
            <a:r>
              <a:rPr dirty="0"/>
              <a:t> theoretical lower bound</a:t>
            </a:r>
          </a:p>
          <a:p>
            <a:r>
              <a:rPr dirty="0"/>
              <a:t>Bayesian receiver approaches optimal performance</a:t>
            </a:r>
          </a:p>
          <a:p>
            <a:r>
              <a:rPr dirty="0"/>
              <a:t>Cyclic and Bondurant are suboptimal</a:t>
            </a:r>
          </a:p>
          <a:p>
            <a:r>
              <a:rPr dirty="0"/>
              <a:t>Heterodyne is classical baseline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4DF4C9-D653-497D-991C-5FAADF45F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7754"/>
              </p:ext>
            </p:extLst>
          </p:nvPr>
        </p:nvGraphicFramePr>
        <p:xfrm>
          <a:off x="56271" y="2003277"/>
          <a:ext cx="8862646" cy="28514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34366">
                  <a:extLst>
                    <a:ext uri="{9D8B030D-6E8A-4147-A177-3AD203B41FA5}">
                      <a16:colId xmlns:a16="http://schemas.microsoft.com/office/drawing/2014/main" val="1221594185"/>
                    </a:ext>
                  </a:extLst>
                </a:gridCol>
                <a:gridCol w="754540">
                  <a:extLst>
                    <a:ext uri="{9D8B030D-6E8A-4147-A177-3AD203B41FA5}">
                      <a16:colId xmlns:a16="http://schemas.microsoft.com/office/drawing/2014/main" val="2116616132"/>
                    </a:ext>
                  </a:extLst>
                </a:gridCol>
                <a:gridCol w="754540">
                  <a:extLst>
                    <a:ext uri="{9D8B030D-6E8A-4147-A177-3AD203B41FA5}">
                      <a16:colId xmlns:a16="http://schemas.microsoft.com/office/drawing/2014/main" val="2555180039"/>
                    </a:ext>
                  </a:extLst>
                </a:gridCol>
                <a:gridCol w="754540">
                  <a:extLst>
                    <a:ext uri="{9D8B030D-6E8A-4147-A177-3AD203B41FA5}">
                      <a16:colId xmlns:a16="http://schemas.microsoft.com/office/drawing/2014/main" val="3764160331"/>
                    </a:ext>
                  </a:extLst>
                </a:gridCol>
                <a:gridCol w="754540">
                  <a:extLst>
                    <a:ext uri="{9D8B030D-6E8A-4147-A177-3AD203B41FA5}">
                      <a16:colId xmlns:a16="http://schemas.microsoft.com/office/drawing/2014/main" val="1027793214"/>
                    </a:ext>
                  </a:extLst>
                </a:gridCol>
                <a:gridCol w="754540">
                  <a:extLst>
                    <a:ext uri="{9D8B030D-6E8A-4147-A177-3AD203B41FA5}">
                      <a16:colId xmlns:a16="http://schemas.microsoft.com/office/drawing/2014/main" val="2927728109"/>
                    </a:ext>
                  </a:extLst>
                </a:gridCol>
                <a:gridCol w="754540">
                  <a:extLst>
                    <a:ext uri="{9D8B030D-6E8A-4147-A177-3AD203B41FA5}">
                      <a16:colId xmlns:a16="http://schemas.microsoft.com/office/drawing/2014/main" val="806705468"/>
                    </a:ext>
                  </a:extLst>
                </a:gridCol>
                <a:gridCol w="754540">
                  <a:extLst>
                    <a:ext uri="{9D8B030D-6E8A-4147-A177-3AD203B41FA5}">
                      <a16:colId xmlns:a16="http://schemas.microsoft.com/office/drawing/2014/main" val="284402208"/>
                    </a:ext>
                  </a:extLst>
                </a:gridCol>
                <a:gridCol w="754540">
                  <a:extLst>
                    <a:ext uri="{9D8B030D-6E8A-4147-A177-3AD203B41FA5}">
                      <a16:colId xmlns:a16="http://schemas.microsoft.com/office/drawing/2014/main" val="2444690648"/>
                    </a:ext>
                  </a:extLst>
                </a:gridCol>
                <a:gridCol w="754540">
                  <a:extLst>
                    <a:ext uri="{9D8B030D-6E8A-4147-A177-3AD203B41FA5}">
                      <a16:colId xmlns:a16="http://schemas.microsoft.com/office/drawing/2014/main" val="2005957329"/>
                    </a:ext>
                  </a:extLst>
                </a:gridCol>
                <a:gridCol w="937420">
                  <a:extLst>
                    <a:ext uri="{9D8B030D-6E8A-4147-A177-3AD203B41FA5}">
                      <a16:colId xmlns:a16="http://schemas.microsoft.com/office/drawing/2014/main" val="959360580"/>
                    </a:ext>
                  </a:extLst>
                </a:gridCol>
              </a:tblGrid>
              <a:tr h="570289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 =0.10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 =0.20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 =0.30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 =0.40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 =0.50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T=0.60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 =0.70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 =0.80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 =0.90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T=1.00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0560919"/>
                  </a:ext>
                </a:extLst>
              </a:tr>
              <a:tr h="570289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alpha1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0.107282756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0.111821856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0.116501294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0.121322345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0.126286118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 dirty="0">
                          <a:effectLst/>
                        </a:rPr>
                        <a:t>0.131393549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0.136645393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0.142042217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0.055221532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0.057789245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3195984"/>
                  </a:ext>
                </a:extLst>
              </a:tr>
              <a:tr h="570289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alpha2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0.252325033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0.254583853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0.256748934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0.258816784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0.260784031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 dirty="0">
                          <a:effectLst/>
                        </a:rPr>
                        <a:t>0.262647437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0.264403902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0.266050481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0.243268274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0.246432386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38055359"/>
                  </a:ext>
                </a:extLst>
              </a:tr>
              <a:tr h="570289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alpha3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0.388067179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0.379010439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 dirty="0">
                          <a:effectLst/>
                        </a:rPr>
                        <a:t>0.370000838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0.361044087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0.352145819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0.343311578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0.334546804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0.325856821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0.45824192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0.449345984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7728794"/>
                  </a:ext>
                </a:extLst>
              </a:tr>
              <a:tr h="570289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alpha4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0.252325033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0.254583853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0.256748934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0.258816784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0.260784031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0.262647437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0.264403902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0.266050481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</a:rPr>
                        <a:t>0.243268274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 dirty="0">
                          <a:effectLst/>
                        </a:rPr>
                        <a:t>0.246432386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79545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BA6DA48-6CA0-4979-9709-24928D8224AA}"/>
              </a:ext>
            </a:extLst>
          </p:cNvPr>
          <p:cNvSpPr txBox="1"/>
          <p:nvPr/>
        </p:nvSpPr>
        <p:spPr>
          <a:xfrm>
            <a:off x="1519311" y="5071029"/>
            <a:ext cx="6710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Posteriori Probabilities w.r.t temporal progress of measurement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74488A-E83A-48BC-9021-31ADBEFA5E32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Results</a:t>
            </a:r>
            <a:r>
              <a:rPr lang="es-ES" dirty="0"/>
              <a:t>: Posteriori </a:t>
            </a:r>
            <a:r>
              <a:rPr lang="es-ES" dirty="0" err="1"/>
              <a:t>Probabilities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3988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335</Words>
  <Application>Microsoft Office PowerPoint</Application>
  <PresentationFormat>On-screen Show (4:3)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QPSK State Discrimination (Overview)</vt:lpstr>
      <vt:lpstr>Code Workflow &amp; Logic</vt:lpstr>
      <vt:lpstr>Posterior Evolution via Cyclic Probing</vt:lpstr>
      <vt:lpstr>Code Workflow &amp; Output</vt:lpstr>
      <vt:lpstr>Results: Error Probability vs |α|²</vt:lpstr>
      <vt:lpstr>Results: Error Probability vs |α|²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QPSK State Discrimination (Overview)</dc:title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2026-04-28T15:49:50Z</dcterms:modified>
  <cp:category/>
</cp:coreProperties>
</file>